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E3A5F"/>
                </a:solidFill>
                <a:latin typeface="Inter"/>
              </a:defRPr>
            </a:pPr>
            <a:r>
              <a:t>FitFast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1A1A2E"/>
                </a:solidFill>
                <a:latin typeface="Inter"/>
              </a:defRPr>
            </a:pPr>
            <a:r>
              <a:t>Monthly Cost Breakdown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32004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577"/>
                </a:solidFill>
                <a:latin typeface="Inter"/>
              </a:defRPr>
            </a:pPr>
            <a:r>
              <a:t>Prepared by Scaleflow Solutions  | 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577"/>
                </a:solidFill>
                <a:latin typeface="Inter"/>
              </a:defRPr>
            </a:pPr>
            <a:r>
              <a:t>Costs verified via Langfuse AI tracing + official pricing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Inter"/>
              </a:defRPr>
            </a:pPr>
            <a:r>
              <a:t>Your Monthly Bill at 500 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4114800" cy="2743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73736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Inter"/>
              </a:defRPr>
            </a:pPr>
            <a:r>
              <a:t>~$37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17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Inter"/>
              </a:defRPr>
            </a:pPr>
            <a:r>
              <a:t>per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B4D8"/>
                </a:solidFill>
                <a:latin typeface="Inter"/>
              </a:defRPr>
            </a:pPr>
            <a:r>
              <a:t>$0.07 per client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463040"/>
            <a:ext cx="576072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5544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Inter"/>
              </a:defRPr>
            </a:pPr>
            <a:r>
              <a:t>$20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5361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Vercel Hosting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577"/>
                </a:solidFill>
                <a:latin typeface="Inter"/>
              </a:defRPr>
            </a:pPr>
            <a:r>
              <a:t>Pro plan (commercial)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2240280"/>
            <a:ext cx="576072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331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Inter"/>
              </a:defRPr>
            </a:pPr>
            <a:r>
              <a:t>~$16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AI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577"/>
                </a:solidFill>
                <a:latin typeface="Inter"/>
              </a:defRPr>
            </a:pPr>
            <a:r>
              <a:t>Meal plans + OCR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0" y="3017520"/>
            <a:ext cx="576072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0" y="31089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Inter"/>
              </a:defRPr>
            </a:pPr>
            <a:r>
              <a:t>$0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309067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33832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577"/>
                </a:solidFill>
                <a:latin typeface="Inter"/>
              </a:defRPr>
            </a:pPr>
            <a:r>
              <a:t>Convex free tier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3794760"/>
            <a:ext cx="576072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38862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Inter"/>
              </a:defRPr>
            </a:pPr>
            <a:r>
              <a:t>$0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79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577"/>
                </a:solidFill>
                <a:latin typeface="Inter"/>
              </a:defRPr>
            </a:pPr>
            <a:r>
              <a:t>Sentry free tier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4572000"/>
            <a:ext cx="576072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4663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Inter"/>
              </a:defRPr>
            </a:pPr>
            <a:r>
              <a:t>$0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46451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Emails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937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577"/>
                </a:solidFill>
                <a:latin typeface="Inter"/>
              </a:defRPr>
            </a:pPr>
            <a:r>
              <a:t>Resend free tier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0" y="5349240"/>
            <a:ext cx="5760720" cy="6858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5440679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3A5F"/>
                </a:solidFill>
                <a:latin typeface="Inter"/>
              </a:defRPr>
            </a:pPr>
            <a:r>
              <a:t>~$1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542239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Domain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5715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6577"/>
                </a:solidFill>
                <a:latin typeface="Inter"/>
              </a:defRPr>
            </a:pPr>
            <a:r>
              <a:t>Annual billing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577"/>
                </a:solidFill>
                <a:latin typeface="Inter"/>
              </a:defRPr>
            </a:pPr>
            <a:r>
              <a:t>Only fixed cost: Vercel Pro ($20/mo) + domain (~$1/mo). Everything else is free or pay-per-use.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Inter"/>
              </a:defRPr>
            </a:pPr>
            <a:r>
              <a:t>What You're Paying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30936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What It Does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Vercel (hosting)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Runs 3 apps on the internet. Pro plan required for commercial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AI (meal plans + OCR)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~$16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Generates personalized meal plans and reads payment screenshots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Convex (database)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Stores client data, handles logins. Free tier: 1M calls, 0.5GB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Sentry (error alerts)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Emails you when something breaks. Free tier: 5,000 errors/month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Resend (emails)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Sends invitation and reminder emails. Free tier: 3,000/month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Langfuse (AI monitoring)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Tracks AI performance and costs. Free tier: 50K events/month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Domain name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~$1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Your custom web address (billed ~$12/year)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Inter"/>
              </a:defRPr>
            </a:pPr>
            <a:r>
              <a:t>How Cost Scales With Clients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3664"/>
                <a:gridCol w="1883664"/>
                <a:gridCol w="1883664"/>
                <a:gridCol w="1883664"/>
                <a:gridCol w="1883664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Clients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AI Cost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Fixed Costs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Total Monthly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Cost Per Client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~$3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3A5F"/>
                          </a:solidFill>
                          <a:latin typeface="Inter"/>
                        </a:defRPr>
                      </a:pPr>
                      <a:r>
                        <a:t>~$24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$0.24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250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~$8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3A5F"/>
                          </a:solidFill>
                          <a:latin typeface="Inter"/>
                        </a:defRPr>
                      </a:pPr>
                      <a:r>
                        <a:t>~$29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$0.12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500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~$16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$21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3A5F"/>
                          </a:solidFill>
                          <a:latin typeface="Inter"/>
                        </a:defRPr>
                      </a:pPr>
                      <a:r>
                        <a:t>~$37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$0.07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1,000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~$31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$21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3A5F"/>
                          </a:solidFill>
                          <a:latin typeface="Inter"/>
                        </a:defRPr>
                      </a:pPr>
                      <a:r>
                        <a:t>~$52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$0.05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371600" y="43891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577"/>
                </a:solidFill>
                <a:latin typeface="Inter"/>
              </a:defRPr>
            </a:pPr>
            <a:r>
              <a:t>The more clients you have, the cheaper it gets per person.</a:t>
            </a:r>
            <a:br/>
            <a:r>
              <a:t>Fixed costs stay the same whether you have 10 or 1,000 clients.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  <a:latin typeface="Inter"/>
              </a:defRPr>
            </a:pPr>
            <a:r>
              <a:t>Annual Projection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760720"/>
            <a:ext cx="347472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Inter"/>
              </a:defRPr>
            </a:pPr>
            <a:r>
              <a:t>Year 1 (500 clients)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806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Inter"/>
              </a:defRPr>
            </a:pPr>
            <a:r>
              <a:t>~$444/year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26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577"/>
                </a:solidFill>
                <a:latin typeface="Inter"/>
              </a:defRPr>
            </a:pPr>
            <a:r>
              <a:t>All services on free tiers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5760720"/>
            <a:ext cx="347472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Inter"/>
              </a:defRPr>
            </a:pPr>
            <a:r>
              <a:t>Year 2+ (500 clients)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59" y="5806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Inter"/>
              </a:defRPr>
            </a:pPr>
            <a:r>
              <a:t>~$744/year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6126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577"/>
                </a:solidFill>
                <a:latin typeface="Inter"/>
              </a:defRPr>
            </a:pPr>
            <a:r>
              <a:t>After database outgrows free tier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5760720"/>
            <a:ext cx="3474720" cy="8229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5806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Inter"/>
              </a:defRPr>
            </a:pPr>
            <a:r>
              <a:t>1,000 clients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5806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Inter"/>
              </a:defRPr>
            </a:pPr>
            <a:r>
              <a:t>~$924/year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126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577"/>
                </a:solidFill>
                <a:latin typeface="Inter"/>
              </a:defRPr>
            </a:pPr>
            <a:r>
              <a:t>Near the upper limit per instance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Inter"/>
              </a:defRPr>
            </a:pPr>
            <a:r>
              <a:t>AI Cost Per Operation (Langfuse-Verified)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840480"/>
                <a:gridCol w="3200400"/>
              </a:tblGrid>
              <a:tr h="49638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What the AI Does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When It Happens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Cost Per Use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Generate a meal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Every check-in (10-14 days)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$0.0118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Generate a workout plan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Every check-in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75A"/>
                          </a:solidFill>
                          <a:latin typeface="Inter"/>
                        </a:defRPr>
                      </a:pPr>
                      <a:r>
                        <a:t>Free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Translate meal plan to Arabic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When client switches language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~$0.003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Translate workout plan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When client switches language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00875A"/>
                          </a:solidFill>
                          <a:latin typeface="Inter"/>
                        </a:defRPr>
                      </a:pPr>
                      <a:r>
                        <a:t>Free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Read payment screenshot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Once per signup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$0.0002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Read InBody scan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Per check-in (if uploaded)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$0.0001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A6577"/>
                </a:solidFill>
                <a:latin typeface="Inter"/>
              </a:defRPr>
            </a:pPr>
            <a:r>
              <a:t>How ~$16/month is calculated (from Langfuse production traces):</a:t>
            </a:r>
            <a:br/>
            <a:r>
              <a:t>500 clients x 2.5 check-ins/mo x $0.0118 = $14.75  +  translations $0.30  +  OCR $0.01  =  ~$15.06/month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75A"/>
                </a:solidFill>
                <a:latin typeface="Inter"/>
              </a:defRPr>
            </a:pPr>
            <a:r>
              <a:t>Workout plans and workout translations are free — they use the built-in exercise database with Arabic translations included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Inter"/>
              </a:defRPr>
            </a:pPr>
            <a:r>
              <a:t>What's Free (And Will Stay Free)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040880"/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Why It's Free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Workout plan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Built-in algorithm + exercise database — no AI calls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Workout translation (EN/AR)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Exercise database has Arabic names and instructions built in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Push notifications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Standard Web Push protocol — no third-party service required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Uptime monitoring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GitHub Actions (free for all repositories)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Code hosting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GitHub free tier includes private repositories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AI monitoring (Langfuse)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Free tier: 50,000 events/month — more than enough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Error monitoring (Sentry)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Free tier: 5,000 errors/month, email alerts included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Database (Convex)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Free tier: 1M function calls, 0.5 GB storage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Inter"/>
              </a:defRPr>
            </a:pPr>
            <a:r>
              <a:t>How Fast Is the AI?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371600" y="137160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4389120"/>
              </a:tblGrid>
              <a:tr h="5334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Task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Notes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Meal plan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15-60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Creates a full 10-14 day personalized meal plan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Workout plan generation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875A"/>
                          </a:solidFill>
                          <a:latin typeface="Inter"/>
                        </a:defRPr>
                      </a:pPr>
                      <a:r>
                        <a:t>Instant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No AI needed — built from exercise database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Meal plan translation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~3-4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Translates all 10 days in parallel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Workout plan translation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875A"/>
                          </a:solidFill>
                          <a:latin typeface="Inter"/>
                        </a:defRPr>
                      </a:pPr>
                      <a:r>
                        <a:t>Instant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Swaps to Arabic fields already in the database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Payment screenshot reading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~3 seconds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Extracts amount, sender, reference number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  <a:latin typeface="Inter"/>
              </a:defRPr>
            </a:pPr>
            <a:r>
              <a:t>Potential Hidden Fees to Watch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286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114800"/>
                <a:gridCol w="2286000"/>
                <a:gridCol w="3200400"/>
              </a:tblGrid>
              <a:tr h="5334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Service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What Could Cause Extra Charges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How Likely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How to Avoid</a:t>
                      </a:r>
                    </a:p>
                  </a:txBody>
                  <a:tcPr anchor="ctr">
                    <a:solidFill>
                      <a:srgbClr val="1E3A5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Vercel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Over 10M requests/month or 16 CPU-hours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Very unlikely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Monitor dashboard monthly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Convex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Database growing past 0.5 GB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Likely (6-12 mo)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Upgrade to Pro ($25/mo)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Resend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Over 3,000 emails/month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Unlikely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Monitor email volume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Google AI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Spike in meal plan generations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Very unlikely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Rate limiting is built in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OpenRouter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OCR usage spike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Very unlikely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A1A2E"/>
                          </a:solidFill>
                          <a:latin typeface="Inter"/>
                        </a:defRPr>
                      </a:pPr>
                      <a:r>
                        <a:t>Each OCR = $0.0002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846320"/>
            <a:ext cx="10698480" cy="914400"/>
          </a:xfrm>
          <a:prstGeom prst="roundRect">
            <a:avLst/>
          </a:prstGeom>
          <a:solidFill>
            <a:srgbClr val="ED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  <a:latin typeface="Inter"/>
              </a:defRPr>
            </a:pPr>
            <a:r>
              <a:t>Bottom line: No surprise bills. The biggest risk is Convex database outgrowing the free tier after 6-12 months, adding $25/month. Everything else stays within free limits at 500 clients.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Inter"/>
              </a:defRPr>
            </a:pPr>
            <a: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37744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281635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2743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Inter"/>
              </a:defRPr>
            </a:pPr>
            <a:r>
              <a:t>Total monthly cost at 500 clients: ~$37/month ($444/year)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36499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Inter"/>
              </a:defRPr>
            </a:pPr>
            <a:r>
              <a:t>Only paid service: Vercel Pro at $20/month (required for commercial use)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391363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Inter"/>
              </a:defRPr>
            </a:pPr>
            <a:r>
              <a:t>AI costs ~$0.03 per client/month — verified via Langfuse production traces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46227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43891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Inter"/>
              </a:defRPr>
            </a:pPr>
            <a:r>
              <a:t>Workout plans and translations are completely free (exercise database)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501091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5448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Inter"/>
              </a:defRPr>
            </a:pPr>
            <a:r>
              <a:t>Most services run on generous free tiers — no hidden fees at this scale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559552"/>
            <a:ext cx="164592" cy="1645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Inter"/>
              </a:defRPr>
            </a:pPr>
            <a:r>
              <a:t>Database may need a $25/month upgrade after 6-12 months of growth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9436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>
                <a:solidFill>
                  <a:srgbClr val="00B4D8"/>
                </a:solidFill>
                <a:latin typeface="Inter"/>
              </a:defRPr>
            </a:pPr>
            <a:r>
              <a:t>Prepared by Scaleflow Solutions  |  March 2026  |  All costs verified via Langfuse + official pricing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